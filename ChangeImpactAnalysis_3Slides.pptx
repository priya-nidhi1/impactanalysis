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Databricks lineage stops at the table boundary, so Tableau breakage is only discovered after deployment. Solution: one dependency graph across both systems that answers 'what breaks if I change this column?' before release. Grading distinguishes breaking from non-breaking changes, so the output is actionable rather than alarmist.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Methodology reads left to right: extract metadata, build one graph, walk it downstream, grade severity, then let AI phrase the result. The italic line is the trust argument — the graph decides impact, the model only explains it. On outcomes: the two blue tiles are measured in the prototype; the two grey tiles are pre-implementation estimates and are labeled as such.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arc: today the platform tells you WHAT breaks. Next it tells you HOW MUCH it matters — risk score, business criticality, environment, usage, ownership. Then it tells you WHAT TO DO — approvals, tests, a deploy recommendation, and what-if simulation before committing. Finally it does that inside the tools teams already use — Jira, Teams, pull requests, CI/CD. None of this is built yet; the point is that each item is an extension of the graph and severity model that already exists, not a new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310896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Change Impact Analysis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68096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 Dependency Analysis Across Databricks and Tableau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69848"/>
            <a:ext cx="11338560" cy="20117"/>
          </a:xfrm>
          <a:prstGeom prst="rect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Context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changes — add / drop / rename / retype — ship continuously in Databricks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lineage stops at table level; no visibility into Tableau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trace downstream impact manually before every change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dashboards surface after deployment, reported by business users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32841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360273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full downstream blast radius of a schema change before deployment, across Databricks SQL/views and Tableau assets.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43342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4608576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(v1): 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tables, views and queries; Tableau data sources, fields, calculated fields, worksheets and dashboards.</a:t>
            </a:r>
            <a:endParaRPr lang="en-US" sz="950" dirty="0"/>
          </a:p>
          <a:p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Deferred: </a:t>
            </a:r>
            <a:pPr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scanning, dbt/Git scanning, CI/CD deployment gate.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60520" y="129844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60520" y="157276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dependency graph spanning both systems, answering “what breaks if I change this column?” with a graded, explainable impact report — before deployment, not after.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60520" y="235915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60520" y="2633472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Unity Catalog &amp; Information Schema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query SQL — column-level parsing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Metadata API — data sources, fields, calculated fields, worksheets, dashboards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60520" y="385876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Grading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60520" y="4133088"/>
            <a:ext cx="841248" cy="201168"/>
          </a:xfrm>
          <a:prstGeom prst="roundRect">
            <a:avLst>
              <a:gd name="adj" fmla="val 13636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0520" y="413308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93208" y="4133088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/ rename of a referenced column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60520" y="4407408"/>
            <a:ext cx="841248" cy="201168"/>
          </a:xfrm>
          <a:prstGeom prst="roundRect">
            <a:avLst>
              <a:gd name="adj" fmla="val 13636"/>
            </a:avLst>
          </a:prstGeom>
          <a:solidFill>
            <a:srgbClr val="BF8F00"/>
          </a:solidFill>
          <a:ln w="12700">
            <a:solidFill>
              <a:srgbClr val="BF8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440740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93208" y="4407408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datatype or logic change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60520" y="4681728"/>
            <a:ext cx="841248" cy="201168"/>
          </a:xfrm>
          <a:prstGeom prst="roundRect">
            <a:avLst>
              <a:gd name="adj" fmla="val 13636"/>
            </a:avLst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4681728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093208" y="4681728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change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129844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0" y="1572768"/>
            <a:ext cx="3520440" cy="512064"/>
          </a:xfrm>
          <a:prstGeom prst="roundRect">
            <a:avLst>
              <a:gd name="adj" fmla="val 7143"/>
            </a:avLst>
          </a:prstGeom>
          <a:solidFill>
            <a:srgbClr val="F2F2F2"/>
          </a:solidFill>
          <a:ln w="12700">
            <a:solidFill>
              <a:srgbClr val="76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39328" y="1572768"/>
            <a:ext cx="3300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question</a:t>
            </a:r>
            <a:endParaRPr lang="en-US" sz="10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optional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 rot="10800000">
            <a:off x="9898380" y="2121408"/>
            <a:ext cx="182880" cy="128016"/>
          </a:xfrm>
          <a:prstGeom prst="triangl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286000"/>
            <a:ext cx="35204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2286000"/>
            <a:ext cx="3300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Extraction</a:t>
            </a:r>
            <a:endParaRPr lang="en-US" sz="10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· SQL · Tableau API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 rot="10800000">
            <a:off x="9898380" y="2834640"/>
            <a:ext cx="182880" cy="128016"/>
          </a:xfrm>
          <a:prstGeom prst="triangl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0" y="2999232"/>
            <a:ext cx="35204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9328" y="2999232"/>
            <a:ext cx="3300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Dependency Graph</a:t>
            </a:r>
            <a:endParaRPr lang="en-US" sz="10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↔ Tableau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 rot="10800000">
            <a:off x="9898380" y="3547872"/>
            <a:ext cx="182880" cy="128016"/>
          </a:xfrm>
          <a:prstGeom prst="triangl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3712464"/>
            <a:ext cx="35204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9328" y="3712464"/>
            <a:ext cx="3300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Engine</a:t>
            </a:r>
            <a:endParaRPr lang="en-US" sz="10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+ severity grading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 rot="10800000">
            <a:off x="9898380" y="4261104"/>
            <a:ext cx="182880" cy="128016"/>
          </a:xfrm>
          <a:prstGeom prst="triangl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4425696"/>
            <a:ext cx="3520440" cy="512064"/>
          </a:xfrm>
          <a:prstGeom prst="roundRect">
            <a:avLst>
              <a:gd name="adj" fmla="val 7143"/>
            </a:avLst>
          </a:prstGeom>
          <a:solidFill>
            <a:srgbClr val="FDEDE7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39328" y="4425696"/>
            <a:ext cx="3300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D94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Report</a:t>
            </a:r>
            <a:endParaRPr lang="en-US" sz="10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Databricks App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11480" y="5541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11480" y="5833872"/>
            <a:ext cx="1798320" cy="420624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" y="5833872"/>
            <a:ext cx="1688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broken dashboards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319528" y="5833872"/>
            <a:ext cx="1798320" cy="420624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74392" y="5833872"/>
            <a:ext cx="1688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production incidents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227576" y="5833872"/>
            <a:ext cx="1798320" cy="420624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82440" y="5833872"/>
            <a:ext cx="1688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impact analysis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35624" y="5833872"/>
            <a:ext cx="1798320" cy="420624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0488" y="5833872"/>
            <a:ext cx="1688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deployment confidence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043672" y="5833872"/>
            <a:ext cx="1798320" cy="420624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98536" y="5833872"/>
            <a:ext cx="1688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↔ BI collaboration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951720" y="5833872"/>
            <a:ext cx="1798320" cy="420624"/>
          </a:xfrm>
          <a:prstGeom prst="roundRect">
            <a:avLst>
              <a:gd name="adj" fmla="val 10870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06584" y="5833872"/>
            <a:ext cx="1688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governance evidence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955280" y="64922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ExlService Holdings, Inc. All rights reserved.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 &amp; Business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069848"/>
            <a:ext cx="11338560" cy="20117"/>
          </a:xfrm>
          <a:prstGeom prst="rect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20700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Methodology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" y="1499616"/>
            <a:ext cx="2048256" cy="475488"/>
          </a:xfrm>
          <a:prstGeom prst="rect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" y="14996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Extraction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975104"/>
            <a:ext cx="204825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4E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975104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Catalog, Information Schema, view/query SQL, Tableau Metadata API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 rot="5400000">
            <a:off x="2514600" y="2304288"/>
            <a:ext cx="164592" cy="201168"/>
          </a:xfrm>
          <a:prstGeom prst="triangle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34056" y="1499616"/>
            <a:ext cx="2048256" cy="475488"/>
          </a:xfrm>
          <a:prstGeom prst="rect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4996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34056" y="1975104"/>
            <a:ext cx="204825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4E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1975104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to nodes and edges; join Databricks ↔ Tableau at the column → field bridge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 rot="5400000">
            <a:off x="4837176" y="2304288"/>
            <a:ext cx="164592" cy="201168"/>
          </a:xfrm>
          <a:prstGeom prst="triangle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56632" y="1499616"/>
            <a:ext cx="2048256" cy="475488"/>
          </a:xfrm>
          <a:prstGeom prst="rect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1496" y="14996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Traversal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56632" y="1975104"/>
            <a:ext cx="204825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4E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8928" y="1975104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walk from the changed object; capture every dependent asset and its path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 rot="5400000">
            <a:off x="7159752" y="2304288"/>
            <a:ext cx="164592" cy="201168"/>
          </a:xfrm>
          <a:prstGeom prst="triangle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79208" y="1499616"/>
            <a:ext cx="2048256" cy="475488"/>
          </a:xfrm>
          <a:prstGeom prst="rect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4072" y="14996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Grading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79208" y="1975104"/>
            <a:ext cx="204825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4E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1504" y="1975104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/ Warning / Info assigned by deterministic, auditable rules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 rot="5400000">
            <a:off x="9482328" y="2304288"/>
            <a:ext cx="164592" cy="201168"/>
          </a:xfrm>
          <a:prstGeom prst="triangle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01784" y="1499616"/>
            <a:ext cx="2048256" cy="475488"/>
          </a:xfrm>
          <a:prstGeom prst="rect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56648" y="1499616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&amp; Chat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701784" y="1975104"/>
            <a:ext cx="204825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94E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0" y="1975104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question in, plain-English impact assessment out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2871216"/>
            <a:ext cx="11338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 is the source of truth — AI phrases the results, it never infers dependencies.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11480" y="3310128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 Used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11480" y="3584448"/>
            <a:ext cx="65379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767171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39496" y="3813048"/>
            <a:ext cx="740664" cy="329184"/>
          </a:xfrm>
          <a:prstGeom prst="roundRect">
            <a:avLst>
              <a:gd name="adj" fmla="val 13889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" y="3813048"/>
            <a:ext cx="740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371600" y="3813048"/>
            <a:ext cx="491947" cy="329184"/>
          </a:xfrm>
          <a:prstGeom prst="roundRect">
            <a:avLst>
              <a:gd name="adj" fmla="val 13889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3813048"/>
            <a:ext cx="4919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954987" y="3813048"/>
            <a:ext cx="554126" cy="329184"/>
          </a:xfrm>
          <a:prstGeom prst="roundRect">
            <a:avLst>
              <a:gd name="adj" fmla="val 13889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4987" y="3813048"/>
            <a:ext cx="5541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SQLGlot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00554" y="3813048"/>
            <a:ext cx="616306" cy="329184"/>
          </a:xfrm>
          <a:prstGeom prst="roundRect">
            <a:avLst>
              <a:gd name="adj" fmla="val 13889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0554" y="3813048"/>
            <a:ext cx="6163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08299" y="3813048"/>
            <a:ext cx="1362456" cy="329184"/>
          </a:xfrm>
          <a:prstGeom prst="roundRect">
            <a:avLst>
              <a:gd name="adj" fmla="val 13889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08299" y="3813048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Metadata API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62195" y="3813048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62195" y="38130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AI / LLM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05195" y="3813048"/>
            <a:ext cx="678485" cy="329184"/>
          </a:xfrm>
          <a:prstGeom prst="roundRect">
            <a:avLst>
              <a:gd name="adj" fmla="val 13889"/>
            </a:avLst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05195" y="3813048"/>
            <a:ext cx="6784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498848"/>
            <a:ext cx="6537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11480" y="4828032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95528" y="4791456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as source of truth: </a:t>
            </a:r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traversal keeps every result auditable and reproducible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1480" y="5285232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95528" y="5248656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Cross-system bridge: </a:t>
            </a:r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column IDs join Databricks and Tableau with no manual mapping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11480" y="5742432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5742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95528" y="5705856"/>
            <a:ext cx="6153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 the edges: </a:t>
            </a:r>
            <a:pPr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handles language, not logic — what makes it safe at a deployment gate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269480" y="3310128"/>
            <a:ext cx="4480560" cy="365760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69480" y="33101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Outcomes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269480" y="3785616"/>
            <a:ext cx="2176272" cy="786384"/>
          </a:xfrm>
          <a:prstGeom prst="rect">
            <a:avLst/>
          </a:prstGeom>
          <a:solidFill>
            <a:srgbClr val="EAF1F8"/>
          </a:solidFill>
          <a:ln w="9525">
            <a:solidFill>
              <a:srgbClr val="2E5F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42632" y="383133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/ 1.00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7342632" y="412394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on the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test set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573768" y="3785616"/>
            <a:ext cx="2176272" cy="786384"/>
          </a:xfrm>
          <a:prstGeom prst="rect">
            <a:avLst/>
          </a:prstGeom>
          <a:solidFill>
            <a:srgbClr val="EAF1F8"/>
          </a:solidFill>
          <a:ln w="9525">
            <a:solidFill>
              <a:srgbClr val="2E5F8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46920" y="383133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63" name="Text 61"/>
          <p:cNvSpPr/>
          <p:nvPr/>
        </p:nvSpPr>
        <p:spPr>
          <a:xfrm>
            <a:off x="9646920" y="412394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assets found for one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rename (3 Databricks + 5 Tableau)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269480" y="4700016"/>
            <a:ext cx="2176272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42632" y="474573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1700" dirty="0"/>
          </a:p>
        </p:txBody>
      </p:sp>
      <p:sp>
        <p:nvSpPr>
          <p:cNvPr id="66" name="Text 64"/>
          <p:cNvSpPr/>
          <p:nvPr/>
        </p:nvSpPr>
        <p:spPr>
          <a:xfrm>
            <a:off x="7342632" y="503834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 vs. 2–6 hrs manual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(target)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9573768" y="4700016"/>
            <a:ext cx="2176272" cy="786384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646920" y="474573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</a:t>
            </a:r>
            <a:endParaRPr lang="en-US" sz="1700" dirty="0"/>
          </a:p>
        </p:txBody>
      </p:sp>
      <p:sp>
        <p:nvSpPr>
          <p:cNvPr id="69" name="Text 67"/>
          <p:cNvSpPr/>
          <p:nvPr/>
        </p:nvSpPr>
        <p:spPr>
          <a:xfrm>
            <a:off x="9646920" y="503834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reduction in deployment-</a:t>
            </a:r>
            <a:endParaRPr lang="en-US" sz="750" dirty="0"/>
          </a:p>
          <a:p>
            <a:pPr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reporting issues (estimate)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269480" y="552297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00"/>
              </a:lnSpc>
              <a:buNone/>
            </a:pPr>
            <a:r>
              <a:rPr lang="en-US" sz="65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on labeled synthetic fixtures (2 of 5 change types); live-metadata validation pending. Efficiency and incident figures are pre-implementation estimates.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955280" y="64922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ExlService Holdings, Inc. All rights reserved.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3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768096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Impact Visibility to Automated Deployment Governance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069848"/>
            <a:ext cx="11338560" cy="20117"/>
          </a:xfrm>
          <a:prstGeom prst="rect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10928" y="310896"/>
            <a:ext cx="2066544" cy="274320"/>
          </a:xfrm>
          <a:prstGeom prst="roundRect">
            <a:avLst>
              <a:gd name="adj" fmla="val 16667"/>
            </a:avLst>
          </a:prstGeom>
          <a:solidFill>
            <a:srgbClr val="FDEDE7"/>
          </a:solidFill>
          <a:ln w="9525">
            <a:solidFill>
              <a:srgbClr val="D94E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10928" y="310896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4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NOT IN v1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596640" cy="384048"/>
          </a:xfrm>
          <a:prstGeom prst="rect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98448"/>
            <a:ext cx="3450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Impact Intelligence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632" y="1719072"/>
            <a:ext cx="345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this impact matter?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3596640" cy="56692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2212848"/>
            <a:ext cx="118872" cy="118872"/>
          </a:xfrm>
          <a:prstGeom prst="ellipse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029968"/>
            <a:ext cx="3194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per change, from blast radius and asset criticality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670048"/>
            <a:ext cx="3596640" cy="56692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2852928"/>
            <a:ext cx="118872" cy="118872"/>
          </a:xfrm>
          <a:prstGeom prst="ellipse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670048"/>
            <a:ext cx="3194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Criticality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assets by the business processes and reports they serve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310128"/>
            <a:ext cx="3596640" cy="56692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" y="3493008"/>
            <a:ext cx="118872" cy="118872"/>
          </a:xfrm>
          <a:prstGeom prst="ellipse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310128"/>
            <a:ext cx="3194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vs Development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production impact from lower environments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950208"/>
            <a:ext cx="3596640" cy="56692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" y="4133088"/>
            <a:ext cx="118872" cy="118872"/>
          </a:xfrm>
          <a:prstGeom prst="ellipse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950208"/>
            <a:ext cx="3194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Usage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impact by view counts and active consumers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4590288"/>
            <a:ext cx="3596640" cy="56692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" y="4773168"/>
            <a:ext cx="118872" cy="118872"/>
          </a:xfrm>
          <a:prstGeom prst="ellipse">
            <a:avLst/>
          </a:prstGeom>
          <a:solidFill>
            <a:srgbClr val="D94E1F"/>
          </a:solidFill>
          <a:ln w="12700">
            <a:solidFill>
              <a:srgbClr val="D94E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4590288"/>
            <a:ext cx="3194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Ownership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owning team for every impacted asset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82440" y="1298448"/>
            <a:ext cx="359664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5592" y="1298448"/>
            <a:ext cx="3450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&amp; Governance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55592" y="1719072"/>
            <a:ext cx="345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do about it?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82440" y="2029968"/>
            <a:ext cx="3596640" cy="56692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3024" y="2212848"/>
            <a:ext cx="118872" cy="11887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5048" y="2029968"/>
            <a:ext cx="3194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Approvals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the approver list from ownership and severity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82440" y="2670048"/>
            <a:ext cx="3596640" cy="56692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3024" y="2852928"/>
            <a:ext cx="118872" cy="11887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5048" y="2670048"/>
            <a:ext cx="3194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Testing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regression tests covering the impacted assets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82440" y="3310128"/>
            <a:ext cx="3596640" cy="56692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3024" y="3493008"/>
            <a:ext cx="118872" cy="11887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5048" y="3310128"/>
            <a:ext cx="3194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Recommendation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/ proceed with care / hold, with rationale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82440" y="3950208"/>
            <a:ext cx="3596640" cy="56692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83024" y="4133088"/>
            <a:ext cx="118872" cy="11887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5048" y="3950208"/>
            <a:ext cx="3194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Simulations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change and compare outcomes before committing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53400" y="1298448"/>
            <a:ext cx="3596640" cy="38404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6552" y="1298448"/>
            <a:ext cx="3450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Toolchain Integration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226552" y="1719072"/>
            <a:ext cx="3450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show up?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53400" y="2029968"/>
            <a:ext cx="3596640" cy="56692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53984" y="2212848"/>
            <a:ext cx="118872" cy="11887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46008" y="2029968"/>
            <a:ext cx="3194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Creation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Auto-raise remediation tickets against owning teams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53400" y="2670048"/>
            <a:ext cx="3596640" cy="56692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53984" y="2852928"/>
            <a:ext cx="118872" cy="11887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46008" y="2670048"/>
            <a:ext cx="3194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Notification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owners of impacted dashboards ahead of release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53400" y="3310128"/>
            <a:ext cx="3596640" cy="56692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53984" y="3493008"/>
            <a:ext cx="118872" cy="11887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46008" y="3310128"/>
            <a:ext cx="3194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Comments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the impact report inline on the pull request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153400" y="3950208"/>
            <a:ext cx="3596640" cy="566928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53984" y="4133088"/>
            <a:ext cx="118872" cy="118872"/>
          </a:xfrm>
          <a:prstGeom prst="ellipse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46008" y="3950208"/>
            <a:ext cx="3194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Validation</a:t>
            </a:r>
            <a:endParaRPr lang="en-US" sz="10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the pipeline when a breaking change is undeclared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11480" y="5888736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by design in v1 — each capability builds on the dependency graph and severity model already in place.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955280" y="64922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ExlService Holdings, Inc. All rights reserved.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AI-Assisted Change Impact Analysis Platform</dc:title>
  <dc:subject>PptxGenJS Presentation</dc:subject>
  <dc:creator>Data Engineering</dc:creator>
  <cp:lastModifiedBy>Data Engineering</cp:lastModifiedBy>
  <cp:revision>1</cp:revision>
  <dcterms:created xsi:type="dcterms:W3CDTF">2026-08-07T17:50:32Z</dcterms:created>
  <dcterms:modified xsi:type="dcterms:W3CDTF">2026-08-07T17:50:32Z</dcterms:modified>
</cp:coreProperties>
</file>